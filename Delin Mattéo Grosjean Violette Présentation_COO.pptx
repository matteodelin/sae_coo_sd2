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52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GMI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Matériel Informatique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 Mattéo – Grosjean Violette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9728" cy="14630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consignes du projet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09728" cy="14630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56048" y="13258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956048" y="171907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Diagrammes UML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56048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objets, cas d'utilisation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109728" cy="14630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6928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66928" y="3456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 packages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3886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interne &amp; gestion des panneaux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109728" cy="14630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956048" y="30632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956048" y="3456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externes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56048" y="38862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Bibliothèques tierces utilisées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Introduction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universitaire de prêt de matériel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PC,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tablettes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caméscopes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enregistreurs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vidéoprojecteurs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historiques disponibles au format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centraliser la gestion des réservations et produire des statistiques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37760" y="10515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attendues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(créer, modifier, afficher, supprimer)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ressources (créer, modifier, afficher, supprimer)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réservations (créer, modifier, afficher, supprimer)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fichier CSV fourni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réservations dans un fichier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d'usage (graphiques)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— Types de réservation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6400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Emprunt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individuelle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usage personnel d'une ressource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51760" cy="6400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4612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pédagogique 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cours, TD, TP — usage collectif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89320" y="1188720"/>
            <a:ext cx="2651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651760" cy="6400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6080760" y="118872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technique 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réparation, mise à jour, contrôle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CSV attendu 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Réservation ; Domaine ; Ressource ; Description ; Heure - Durée ; Type ; Mise à jour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Diagramme de classes</a:t>
            </a:r>
            <a:endParaRPr lang="en-US" sz="2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051765B-36E8-45CF-8E03-7EB69B293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9144000" cy="41637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Diagramme d'objets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CADCF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réelle : mono1 emprunte l'iPad n°9 le 1er septembre 2021 à 08h30 pendant 540 min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— Diagramme de cas d'utilisation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479884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unique · 3 groupes de cas (Utilisateur, Ressources, Reservations)</a:t>
            </a:r>
            <a:endParaRPr lang="en-US" sz="1100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E8B22B1-A73D-4D39-969B-21F77FAA1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251" y="1086373"/>
            <a:ext cx="4533497" cy="3610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— Architecture des packages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06040" cy="38404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47472" y="1097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3619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Utilisateur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Ressources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logique métier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606040" cy="38404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27832" y="1097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46120" y="153619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DeleteUser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PrintUser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46120" y="2423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</a:t>
            </a:r>
            <a:r>
              <a:rPr lang="en-US" sz="900" b="1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i="1" dirty="0" err="1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9728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6035040" y="1097280"/>
            <a:ext cx="2606040" cy="38404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108192" y="109728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PaneRessources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53619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CreationRessources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ModifieRessources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DeleteRessources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PrintRessources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4231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</a:t>
            </a:r>
            <a:r>
              <a:rPr lang="en-US" sz="9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i="1" dirty="0" err="1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918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3291840"/>
            <a:ext cx="2606040" cy="384048"/>
          </a:xfrm>
          <a:prstGeom prst="rect">
            <a:avLst/>
          </a:prstGeom>
          <a:solidFill>
            <a:srgbClr val="880E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47472" y="3291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PaneReservations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7307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CreationReservations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ModifieReservations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DeleteReservations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PrintReservations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617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 err="1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Panneaux</a:t>
            </a:r>
            <a:r>
              <a:rPr lang="en-US" sz="900" b="1" i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i="1" dirty="0" err="1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82112" y="32918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182112" y="3291840"/>
            <a:ext cx="2606040" cy="384048"/>
          </a:xfrm>
          <a:prstGeom prst="rect">
            <a:avLst/>
          </a:prstGeom>
          <a:solidFill>
            <a:srgbClr val="4527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227832" y="3291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PaneCharts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46120" y="37307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TopRessourcesChart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TopUserChart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DureeMoyenneDomaineChart</a:t>
            </a:r>
            <a:endParaRPr lang="en-US" sz="950" dirty="0"/>
          </a:p>
          <a:p>
            <a:r>
              <a:rPr lang="en-US" sz="950" dirty="0" err="1">
                <a:solidFill>
                  <a:srgbClr val="333333"/>
                </a:solidFill>
                <a:latin typeface="Consolas" pitchFamily="34" charset="0"/>
              </a:rPr>
              <a:t>EvolutionTauxChart</a:t>
            </a:r>
            <a:endParaRPr lang="en-US" sz="950" dirty="0">
              <a:solidFill>
                <a:srgbClr val="333333"/>
              </a:solidFill>
              <a:latin typeface="Consolas" pitchFamily="34" charset="0"/>
            </a:endParaRPr>
          </a:p>
          <a:p>
            <a:r>
              <a:rPr lang="en-US" sz="950" dirty="0" err="1">
                <a:solidFill>
                  <a:srgbClr val="333333"/>
                </a:solidFill>
                <a:latin typeface="Consolas" pitchFamily="34" charset="0"/>
              </a:rPr>
              <a:t>TauxEmpruntDomaineChart</a:t>
            </a:r>
            <a:endParaRPr lang="en-US" sz="950" dirty="0">
              <a:solidFill>
                <a:srgbClr val="333333"/>
              </a:solidFill>
              <a:latin typeface="Consolas" pitchFamily="34" charset="0"/>
            </a:endParaRPr>
          </a:p>
          <a:p>
            <a:r>
              <a:rPr lang="en-US" sz="950" dirty="0" err="1">
                <a:solidFill>
                  <a:srgbClr val="333333"/>
                </a:solidFill>
                <a:latin typeface="Consolas" pitchFamily="34" charset="0"/>
              </a:rPr>
              <a:t>TauxEmpruntPeriodeChart</a:t>
            </a:r>
            <a:endParaRPr lang="en-US" sz="950" dirty="0">
              <a:solidFill>
                <a:srgbClr val="333333"/>
              </a:solidFill>
              <a:latin typeface="Consolas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46120" y="4617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452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statistiques</a:t>
            </a:r>
            <a:endParaRPr lang="en-US" sz="900" dirty="0"/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1BD25D83-D1C0-4C02-2CB4-10505099EBE8}"/>
              </a:ext>
            </a:extLst>
          </p:cNvPr>
          <p:cNvSpPr/>
          <p:nvPr/>
        </p:nvSpPr>
        <p:spPr>
          <a:xfrm>
            <a:off x="6016752" y="3291840"/>
            <a:ext cx="260604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E1A3CE6E-32D2-7E10-9668-485C52B1960A}"/>
              </a:ext>
            </a:extLst>
          </p:cNvPr>
          <p:cNvSpPr/>
          <p:nvPr/>
        </p:nvSpPr>
        <p:spPr>
          <a:xfrm>
            <a:off x="6016752" y="3291840"/>
            <a:ext cx="2606040" cy="384048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AEC43A6E-B9E1-24CA-2F59-80F40445C744}"/>
              </a:ext>
            </a:extLst>
          </p:cNvPr>
          <p:cNvSpPr/>
          <p:nvPr/>
        </p:nvSpPr>
        <p:spPr>
          <a:xfrm>
            <a:off x="6062472" y="329184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defaults</a:t>
            </a:r>
            <a:endParaRPr lang="en-US" sz="11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8608981E-00D8-BD96-BDD5-7B387B3AC870}"/>
              </a:ext>
            </a:extLst>
          </p:cNvPr>
          <p:cNvSpPr/>
          <p:nvPr/>
        </p:nvSpPr>
        <p:spPr>
          <a:xfrm>
            <a:off x="6080760" y="373075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333333"/>
                </a:solidFill>
                <a:latin typeface="Consolas" pitchFamily="34" charset="0"/>
              </a:rPr>
              <a:t>MainWindow</a:t>
            </a:r>
            <a:endParaRPr lang="en-US" sz="950" dirty="0">
              <a:solidFill>
                <a:srgbClr val="333333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950" dirty="0" err="1">
                <a:solidFill>
                  <a:srgbClr val="333333"/>
                </a:solidFill>
                <a:latin typeface="Consolas" pitchFamily="34" charset="0"/>
              </a:rPr>
              <a:t>HomePanel</a:t>
            </a:r>
            <a:endParaRPr lang="en-US" sz="950" dirty="0">
              <a:solidFill>
                <a:srgbClr val="333333"/>
              </a:solidFill>
              <a:latin typeface="Consolas" pitchFamily="34" charset="0"/>
            </a:endParaRPr>
          </a:p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</a:rPr>
              <a:t>CSV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— Packages externes utilisés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09728" cy="1783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75488" y="1124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MigLayout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net.miginfocom.swing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7099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Gestionnaire de mise en page avancé pour Swing. Utilisé dans tous les panneaux (HomePanel, Pane*, PaneCharts) pour positionner les </a:t>
            </a:r>
            <a:r>
              <a:rPr lang="en-US" sz="105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109728" cy="1783080"/>
          </a:xfrm>
          <a:prstGeom prst="rect">
            <a:avLst/>
          </a:prstGeom>
          <a:solidFill>
            <a:srgbClr val="4527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864608" y="1124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527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JCalendar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64608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com.toedter.calendar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64608" y="17099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Fournit JDateChooser, un composant Swing de sélection de date avec calendrier visuel. Utilisé dans CreationReservations, ModifieReservations, DeleteReservations et TauxEmpruntPeriodeChart.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109728" cy="17830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5488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Swing  + Java </a:t>
            </a:r>
            <a:r>
              <a:rPr lang="en-US" sz="1600" b="1" dirty="0" err="1">
                <a:solidFill>
                  <a:srgbClr val="E651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javax.swing (JDK)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GUI standard Java. JFrame, JPanel, JTable, JComboBox, JFileChooser, DropTarget… constituent toute l'interface graphique de l'application.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11480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109728" cy="17830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64608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Standard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64608" y="3429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java.util / java.io / java.time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64608" y="36758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ArrayList (listes en mémoire), Date (gestion temporelle), LocalTime (heure), BufferedReader/FileWriter (CSV).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Bilan du projet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1280160"/>
            <a:ext cx="2743200" cy="4572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3200400"/>
          </a:xfrm>
          <a:prstGeom prst="rect">
            <a:avLst/>
          </a:prstGeom>
          <a:solidFill>
            <a:srgbClr val="2A3D7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Réalisé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complete pour Utilisateurs, Ressources, Réservations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CSV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3840480" cy="3200400"/>
          </a:xfrm>
          <a:prstGeom prst="rect">
            <a:avLst/>
          </a:prstGeom>
          <a:solidFill>
            <a:srgbClr val="2A3D7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840480" cy="41148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75488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UML produit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938528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classes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d'objets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cas d'utilisation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473</Words>
  <Application>Microsoft Office PowerPoint</Application>
  <PresentationFormat>Affichage à l'écran (16:9)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Aptos</vt:lpstr>
      <vt:lpstr>Arial</vt:lpstr>
      <vt:lpstr>Arial Black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GMI – Gestion de Réservations de Matériel</dc:title>
  <dc:subject>PptxGenJS Presentation</dc:subject>
  <dc:creator>PptxGenJS</dc:creator>
  <cp:lastModifiedBy>Mattéo DELIN</cp:lastModifiedBy>
  <cp:revision>3</cp:revision>
  <dcterms:created xsi:type="dcterms:W3CDTF">2026-03-11T00:15:49Z</dcterms:created>
  <dcterms:modified xsi:type="dcterms:W3CDTF">2026-03-11T11:57:19Z</dcterms:modified>
</cp:coreProperties>
</file>