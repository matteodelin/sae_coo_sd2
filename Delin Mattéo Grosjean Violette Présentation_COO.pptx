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  <p:sldId id="268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25258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A90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GMI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457200" y="1874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kern="0" spc="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 Matériel Informatique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0" y="2651760"/>
            <a:ext cx="2743200" cy="45720"/>
          </a:xfrm>
          <a:prstGeom prst="rect">
            <a:avLst/>
          </a:prstGeom>
          <a:solidFill>
            <a:srgbClr val="4A90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Delin Mattéo – Grosjean Violette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Plan de la présentation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02336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109728" cy="1463040"/>
          </a:xfrm>
          <a:prstGeom prst="rect">
            <a:avLst/>
          </a:prstGeom>
          <a:solidFill>
            <a:srgbClr val="4A90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A90D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66928" y="17190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21488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consignes du projet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402336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109728" cy="1463040"/>
          </a:xfrm>
          <a:prstGeom prst="rect">
            <a:avLst/>
          </a:prstGeom>
          <a:solidFill>
            <a:srgbClr val="4A90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956048" y="132588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A90D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956048" y="17190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Diagrammes UML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56048" y="21488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Classes, objets, cas d'utilisation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926080"/>
            <a:ext cx="402336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365760" y="2926080"/>
            <a:ext cx="109728" cy="1463040"/>
          </a:xfrm>
          <a:prstGeom prst="rect">
            <a:avLst/>
          </a:prstGeom>
          <a:solidFill>
            <a:srgbClr val="4A90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66928" y="306324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A90D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66928" y="34564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des packages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66928" y="38862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interne &amp; gestion des panneaux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2926080"/>
            <a:ext cx="402336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4754880" y="2926080"/>
            <a:ext cx="109728" cy="1463040"/>
          </a:xfrm>
          <a:prstGeom prst="rect">
            <a:avLst/>
          </a:prstGeom>
          <a:solidFill>
            <a:srgbClr val="4A90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956048" y="306324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A90D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4956048" y="34564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externes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956048" y="38862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Bibliothèques tierces utilisées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 — Introduction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402336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4023360" cy="411480"/>
          </a:xfrm>
          <a:prstGeom prst="rect">
            <a:avLst/>
          </a:prstGeom>
          <a:solidFill>
            <a:srgbClr val="4A90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554480"/>
            <a:ext cx="3749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universitaire de prêt de matériel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PC, </a:t>
            </a:r>
            <a:r>
              <a:rPr lang="en-US" sz="13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tablettes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caméscopes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enregistreurs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vidéoprojecteurs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historiques disponibles au format CSV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: centraliser la gestion des réservations et produire des statistiques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051560"/>
            <a:ext cx="402336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4023360" cy="4114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937760" y="10515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Fonctionnalités attendues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1554480"/>
            <a:ext cx="3749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utilisateurs (créer, modifier, afficher, supprimer)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ressources (créer, modifier, afficher, supprimer)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réservations (créer, modifier, afficher, supprimer)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Chargement du fichier CSV fourni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des réservations dans un fichier CSV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Statistiques d'usage (graphiques)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 — Types de réservation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188720"/>
            <a:ext cx="265176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2651760" cy="640080"/>
          </a:xfrm>
          <a:prstGeom prst="rect">
            <a:avLst/>
          </a:prstGeom>
          <a:solidFill>
            <a:srgbClr val="4A90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11480" y="118872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Emprunt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23774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Réservation individuelle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usage personnel d'une ressource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154680" y="1188720"/>
            <a:ext cx="265176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3154680" y="1188720"/>
            <a:ext cx="2651760" cy="640080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246120" y="118872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Cours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291840" y="1965960"/>
            <a:ext cx="23774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Cadre pédagogique :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cours, TD, TP — usage collectif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89320" y="1188720"/>
            <a:ext cx="265176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5989320" y="1188720"/>
            <a:ext cx="2651760" cy="6400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6080760" y="118872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Maintenance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126480" y="1965960"/>
            <a:ext cx="23774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Réservation technique :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réparation, mise à jour, contrôle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4572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CSV attendu 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68880" y="45720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Réservation ; Domaine ; Ressource ; Description ; Heure - Durée ; Type ; Mise à jour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 — Diagramme de classes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05840"/>
            <a:ext cx="8412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 — Diagramme d'objets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8229600" cy="3474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4572000"/>
            <a:ext cx="8412480" cy="411480"/>
          </a:xfrm>
          <a:prstGeom prst="rect">
            <a:avLst/>
          </a:prstGeom>
          <a:solidFill>
            <a:srgbClr val="CADCFC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réelle : mono1 emprunte l'iPad n°9 le 1er septembre 2021 à 08h30 pendant 540 min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 — Diagramme de cas d'utilisation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85953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91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Acteur unique · 3 groupes de cas (Utilisateur, Ressources, Reservations)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 — Architecture des packages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60604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2606040" cy="384048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47472" y="1097280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536192"/>
            <a:ext cx="2423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Utilisateur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Ressources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Reservations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5760" y="2423160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&amp; logique métier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154680" y="1097280"/>
            <a:ext cx="260604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3154680" y="1097280"/>
            <a:ext cx="2606040" cy="384048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227832" y="1097280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PaneUser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46120" y="1536192"/>
            <a:ext cx="2423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CreationUser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ModifieUser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DeleteUser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PrintUser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46120" y="2423160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i="1" dirty="0" err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Panneaux</a:t>
            </a:r>
            <a:r>
              <a:rPr lang="en-US" sz="900" b="1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b="1" i="1" dirty="0" err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35040" y="1097280"/>
            <a:ext cx="260604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06040" cy="384048"/>
          </a:xfrm>
          <a:prstGeom prst="rect">
            <a:avLst/>
          </a:prstGeom>
          <a:solidFill>
            <a:srgbClr val="E651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108192" y="1097280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PaneRessources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26480" y="1536192"/>
            <a:ext cx="2423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CreationRessources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ModifieRessources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DeleteRessources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PrintRessources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126480" y="2423160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i="1" dirty="0" err="1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Panneaux</a:t>
            </a:r>
            <a:r>
              <a:rPr lang="en-US" sz="900" b="1" i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b="1" i="1" dirty="0" err="1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3291840"/>
            <a:ext cx="260604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274320" y="3291840"/>
            <a:ext cx="2606040" cy="384048"/>
          </a:xfrm>
          <a:prstGeom prst="rect">
            <a:avLst/>
          </a:prstGeom>
          <a:solidFill>
            <a:srgbClr val="880E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347472" y="3291840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PaneReservations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3730752"/>
            <a:ext cx="2423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CreationReservations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ModifieReservations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DeleteReservations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PrintReservations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65760" y="4617720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i="1" dirty="0" err="1">
                <a:solidFill>
                  <a:srgbClr val="880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Panneaux</a:t>
            </a:r>
            <a:r>
              <a:rPr lang="en-US" sz="900" b="1" i="1" dirty="0">
                <a:solidFill>
                  <a:srgbClr val="880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b="1" i="1" dirty="0" err="1">
                <a:solidFill>
                  <a:srgbClr val="880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Réservations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182112" y="3291840"/>
            <a:ext cx="260604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3182112" y="3291840"/>
            <a:ext cx="2606040" cy="384048"/>
          </a:xfrm>
          <a:prstGeom prst="rect">
            <a:avLst/>
          </a:prstGeom>
          <a:solidFill>
            <a:srgbClr val="4527A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3227832" y="3291840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PaneCharts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46120" y="3730752"/>
            <a:ext cx="2423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TopRessourcesChart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TopUserChart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DureeMoyenneDomaineChart</a:t>
            </a:r>
            <a:endParaRPr lang="en-US" sz="950" dirty="0"/>
          </a:p>
          <a:p>
            <a:r>
              <a:rPr lang="en-US" sz="950" dirty="0" err="1">
                <a:solidFill>
                  <a:srgbClr val="333333"/>
                </a:solidFill>
                <a:latin typeface="Consolas" pitchFamily="34" charset="0"/>
              </a:rPr>
              <a:t>EvolutionTauxChart</a:t>
            </a:r>
            <a:endParaRPr lang="en-US" sz="950" dirty="0">
              <a:solidFill>
                <a:srgbClr val="333333"/>
              </a:solidFill>
              <a:latin typeface="Consolas" pitchFamily="34" charset="0"/>
            </a:endParaRPr>
          </a:p>
          <a:p>
            <a:r>
              <a:rPr lang="en-US" sz="950" dirty="0" err="1">
                <a:solidFill>
                  <a:srgbClr val="333333"/>
                </a:solidFill>
                <a:latin typeface="Consolas" pitchFamily="34" charset="0"/>
              </a:rPr>
              <a:t>TauxEmpruntDomaineChart</a:t>
            </a:r>
            <a:endParaRPr lang="en-US" sz="950" dirty="0">
              <a:solidFill>
                <a:srgbClr val="333333"/>
              </a:solidFill>
              <a:latin typeface="Consolas" pitchFamily="34" charset="0"/>
            </a:endParaRPr>
          </a:p>
          <a:p>
            <a:r>
              <a:rPr lang="en-US" sz="950" dirty="0" err="1">
                <a:solidFill>
                  <a:srgbClr val="333333"/>
                </a:solidFill>
                <a:latin typeface="Consolas" pitchFamily="34" charset="0"/>
              </a:rPr>
              <a:t>TauxEmpruntPeriodeChart</a:t>
            </a:r>
            <a:endParaRPr lang="en-US" sz="950" dirty="0">
              <a:solidFill>
                <a:srgbClr val="333333"/>
              </a:solidFill>
              <a:latin typeface="Consolas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246120" y="4617720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452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Graphiques statistiques</a:t>
            </a:r>
            <a:endParaRPr lang="en-US" sz="900" dirty="0"/>
          </a:p>
        </p:txBody>
      </p:sp>
      <p:sp>
        <p:nvSpPr>
          <p:cNvPr id="30" name="Shape 22">
            <a:extLst>
              <a:ext uri="{FF2B5EF4-FFF2-40B4-BE49-F238E27FC236}">
                <a16:creationId xmlns:a16="http://schemas.microsoft.com/office/drawing/2014/main" id="{1BD25D83-D1C0-4C02-2CB4-10505099EBE8}"/>
              </a:ext>
            </a:extLst>
          </p:cNvPr>
          <p:cNvSpPr/>
          <p:nvPr/>
        </p:nvSpPr>
        <p:spPr>
          <a:xfrm>
            <a:off x="6016752" y="3291840"/>
            <a:ext cx="260604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sp>
        <p:nvSpPr>
          <p:cNvPr id="31" name="Shape 23">
            <a:extLst>
              <a:ext uri="{FF2B5EF4-FFF2-40B4-BE49-F238E27FC236}">
                <a16:creationId xmlns:a16="http://schemas.microsoft.com/office/drawing/2014/main" id="{E1A3CE6E-32D2-7E10-9668-485C52B1960A}"/>
              </a:ext>
            </a:extLst>
          </p:cNvPr>
          <p:cNvSpPr/>
          <p:nvPr/>
        </p:nvSpPr>
        <p:spPr>
          <a:xfrm>
            <a:off x="6016752" y="3291840"/>
            <a:ext cx="2606040" cy="384048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Text 24">
            <a:extLst>
              <a:ext uri="{FF2B5EF4-FFF2-40B4-BE49-F238E27FC236}">
                <a16:creationId xmlns:a16="http://schemas.microsoft.com/office/drawing/2014/main" id="{AEC43A6E-B9E1-24CA-2F59-80F40445C744}"/>
              </a:ext>
            </a:extLst>
          </p:cNvPr>
          <p:cNvSpPr/>
          <p:nvPr/>
        </p:nvSpPr>
        <p:spPr>
          <a:xfrm>
            <a:off x="6062472" y="3291840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defaults</a:t>
            </a:r>
            <a:endParaRPr lang="en-US" sz="1100" dirty="0"/>
          </a:p>
        </p:txBody>
      </p:sp>
      <p:sp>
        <p:nvSpPr>
          <p:cNvPr id="33" name="Text 25">
            <a:extLst>
              <a:ext uri="{FF2B5EF4-FFF2-40B4-BE49-F238E27FC236}">
                <a16:creationId xmlns:a16="http://schemas.microsoft.com/office/drawing/2014/main" id="{8608981E-00D8-BD96-BDD5-7B387B3AC870}"/>
              </a:ext>
            </a:extLst>
          </p:cNvPr>
          <p:cNvSpPr/>
          <p:nvPr/>
        </p:nvSpPr>
        <p:spPr>
          <a:xfrm>
            <a:off x="6080760" y="3730752"/>
            <a:ext cx="2423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333333"/>
                </a:solidFill>
                <a:latin typeface="Consolas" pitchFamily="34" charset="0"/>
              </a:rPr>
              <a:t>MainWindow</a:t>
            </a:r>
            <a:endParaRPr lang="en-US" sz="950" dirty="0">
              <a:solidFill>
                <a:srgbClr val="333333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950" dirty="0" err="1">
                <a:solidFill>
                  <a:srgbClr val="333333"/>
                </a:solidFill>
                <a:latin typeface="Consolas" pitchFamily="34" charset="0"/>
              </a:rPr>
              <a:t>HomePanel</a:t>
            </a:r>
            <a:endParaRPr lang="en-US" sz="950" dirty="0">
              <a:solidFill>
                <a:srgbClr val="333333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</a:rPr>
              <a:t>CSV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 — Packages externes utilisés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411480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109728" cy="178308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75488" y="112471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MigLayout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75488" y="14630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net.miginfocom.swing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75488" y="1709928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Gestionnaire de mise en page avancé pour Swing. Utilisé dans tous les panneaux (HomePanel, Pane*, PaneCharts) pour positionner les </a:t>
            </a:r>
            <a:r>
              <a:rPr lang="en-US" sz="105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composants</a:t>
            </a: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411480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663440" y="1051560"/>
            <a:ext cx="109728" cy="1783080"/>
          </a:xfrm>
          <a:prstGeom prst="rect">
            <a:avLst/>
          </a:prstGeom>
          <a:solidFill>
            <a:srgbClr val="4527A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864608" y="112471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527A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JCalendar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64608" y="14630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com.toedter.calendar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864608" y="1709928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Fournit JDateChooser, un composant Swing de sélection de date avec calendrier visuel. Utilisé dans CreationReservations, ModifieReservations, DeleteReservations et TauxEmpruntPeriodeChart.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" y="3017520"/>
            <a:ext cx="411480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274320" y="3017520"/>
            <a:ext cx="109728" cy="1783080"/>
          </a:xfrm>
          <a:prstGeom prst="rect">
            <a:avLst/>
          </a:prstGeom>
          <a:solidFill>
            <a:srgbClr val="E651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75488" y="309067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5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Java Swing  + Java </a:t>
            </a:r>
            <a:r>
              <a:rPr lang="en-US" sz="1600" b="1" dirty="0" err="1">
                <a:solidFill>
                  <a:srgbClr val="E65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awt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5488" y="342900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javax.swing (JDK)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5488" y="3675888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GUI standard Java. JFrame, JPanel, JTable, JComboBox, JFileChooser, DropTarget… constituent toute l'interface graphique de l'application.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3017520"/>
            <a:ext cx="411480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4663440" y="3017520"/>
            <a:ext cx="109728" cy="1783080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864608" y="309067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Java Standard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864608" y="342900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java.util / java.io / java.time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864608" y="3675888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ArrayList (listes en mémoire), Date (gestion temporelle), LocalTime (heure), BufferedReader/FileWriter (CSV).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A90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Bilan du projet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0" y="1280160"/>
            <a:ext cx="2743200" cy="45720"/>
          </a:xfrm>
          <a:prstGeom prst="rect">
            <a:avLst/>
          </a:prstGeom>
          <a:solidFill>
            <a:srgbClr val="4A90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840480" cy="3200400"/>
          </a:xfrm>
          <a:prstGeom prst="rect">
            <a:avLst/>
          </a:prstGeom>
          <a:solidFill>
            <a:srgbClr val="2A3D7C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3840480" cy="411480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Réalisé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938528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complete pour Utilisateurs, Ressources, Réservations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/ Export CSV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</a:t>
            </a: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graphiques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statistiques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3840480" cy="3200400"/>
          </a:xfrm>
          <a:prstGeom prst="rect">
            <a:avLst/>
          </a:prstGeom>
          <a:solidFill>
            <a:srgbClr val="2A3D7C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663440" y="1463040"/>
            <a:ext cx="3840480" cy="411480"/>
          </a:xfrm>
          <a:prstGeom prst="rect">
            <a:avLst/>
          </a:prstGeom>
          <a:solidFill>
            <a:srgbClr val="4A90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754880" y="146304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UML produit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00600" y="1938528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 de classes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 d'objets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 de cas d'utilisation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de votre attention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473</Words>
  <Application>Microsoft Office PowerPoint</Application>
  <PresentationFormat>Affichage à l'écran (16:9)</PresentationFormat>
  <Paragraphs>115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Arial</vt:lpstr>
      <vt:lpstr>Arial Black</vt:lpstr>
      <vt:lpstr>Calibri</vt:lpstr>
      <vt:lpstr>Consolas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GMI – Gestion de Réservations de Matériel</dc:title>
  <dc:subject>PptxGenJS Presentation</dc:subject>
  <dc:creator>PptxGenJS</dc:creator>
  <cp:lastModifiedBy>Delin Matteo</cp:lastModifiedBy>
  <cp:revision>2</cp:revision>
  <dcterms:created xsi:type="dcterms:W3CDTF">2026-03-11T00:15:49Z</dcterms:created>
  <dcterms:modified xsi:type="dcterms:W3CDTF">2026-03-11T00:39:47Z</dcterms:modified>
</cp:coreProperties>
</file>