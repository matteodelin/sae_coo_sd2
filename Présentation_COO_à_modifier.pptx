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60" d="100"/>
          <a:sy n="160" d="100"/>
        </p:scale>
        <p:origin x="204" y="-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0852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A243CC73-C7C9-492C-C5D7-5B613263C7D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4958080"/>
            <a:ext cx="823913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LIMITED SHARING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5303520" y="0"/>
            <a:ext cx="164592" cy="5143500"/>
          </a:xfrm>
          <a:prstGeom prst="rect">
            <a:avLst/>
          </a:prstGeom>
          <a:solidFill>
            <a:srgbClr val="2E6FD9"/>
          </a:solidFill>
          <a:ln w="12700">
            <a:solidFill>
              <a:srgbClr val="2E6F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46634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Réservations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3520440"/>
            <a:ext cx="1828800" cy="347472"/>
          </a:xfrm>
          <a:prstGeom prst="rect">
            <a:avLst/>
          </a:prstGeom>
          <a:solidFill>
            <a:srgbClr val="2E6FD9"/>
          </a:solidFill>
          <a:ln w="12700">
            <a:solidFill>
              <a:srgbClr val="2E6F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65760" y="35204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SAE COO SD2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0" y="1188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9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Science des Données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669280" y="1600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Orientée Objet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0" y="19659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Semestre 3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0" y="2468880"/>
            <a:ext cx="3017520" cy="36576"/>
          </a:xfrm>
          <a:prstGeom prst="rect">
            <a:avLst/>
          </a:prstGeom>
          <a:solidFill>
            <a:srgbClr val="5B9BF0"/>
          </a:solidFill>
          <a:ln w="12700">
            <a:solidFill>
              <a:srgbClr val="5B9B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669280" y="2606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Matteo Delin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0" y="2926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Mars 2025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 ·  Swing  ·  MigLayout  ·  JCalendar  ·  CSV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E6FD9"/>
          </a:solidFill>
          <a:ln w="12700">
            <a:solidFill>
              <a:srgbClr val="2E6F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DU PROJET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ce projet 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1148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94360" y="1554480"/>
            <a:ext cx="3657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académique
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SAE — Situation d'Apprentissage et d'Évaluation dans le cadre du BUT Science des Données (Semestre 3).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Objectif
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Concevoir une application Java complète orientée objet pour gérer des réservations universitaires avec interface graphique.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Livrables
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source commenté  ·  Documentation UML  ·  Support oral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92040" y="1417320"/>
            <a:ext cx="3840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F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4892040" y="1417320"/>
            <a:ext cx="64008" cy="731520"/>
          </a:xfrm>
          <a:prstGeom prst="rect">
            <a:avLst/>
          </a:prstGeom>
          <a:solidFill>
            <a:srgbClr val="2E6FD9"/>
          </a:solidFill>
          <a:ln w="12700">
            <a:solidFill>
              <a:srgbClr val="2E6F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056632" y="1463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réelles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56632" y="17647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CSV anonymisé 2021–2022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92040" y="2258568"/>
            <a:ext cx="3840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F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892040" y="2258568"/>
            <a:ext cx="64008" cy="731520"/>
          </a:xfrm>
          <a:prstGeom prst="rect">
            <a:avLst/>
          </a:prstGeom>
          <a:solidFill>
            <a:srgbClr val="2E6FD9"/>
          </a:solidFill>
          <a:ln w="12700">
            <a:solidFill>
              <a:srgbClr val="2E6F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056632" y="23042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56632" y="2606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Orientée Objet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92040" y="3099816"/>
            <a:ext cx="3840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F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4892040" y="3099816"/>
            <a:ext cx="64008" cy="731520"/>
          </a:xfrm>
          <a:prstGeom prst="rect">
            <a:avLst/>
          </a:prstGeom>
          <a:solidFill>
            <a:srgbClr val="2E6FD9"/>
          </a:solidFill>
          <a:ln w="12700">
            <a:solidFill>
              <a:srgbClr val="2E6F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056632" y="31455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56632" y="34472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 + MigLayout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92040" y="3941064"/>
            <a:ext cx="3840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F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4892040" y="3941064"/>
            <a:ext cx="64008" cy="731520"/>
          </a:xfrm>
          <a:prstGeom prst="rect">
            <a:avLst/>
          </a:prstGeom>
          <a:solidFill>
            <a:srgbClr val="2E6FD9"/>
          </a:solidFill>
          <a:ln w="12700">
            <a:solidFill>
              <a:srgbClr val="2E6F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056632" y="39867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Persistance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56632" y="42885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/ Export CSV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E6FD9"/>
          </a:solidFill>
          <a:ln w="12700">
            <a:solidFill>
              <a:srgbClr val="2E6F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fait l'application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1508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822960" y="1645920"/>
            <a:ext cx="685800" cy="685800"/>
          </a:xfrm>
          <a:prstGeom prst="line">
            <a:avLst/>
          </a:prstGeom>
          <a:solidFill>
            <a:srgbClr val="D8E8FF"/>
          </a:solidFill>
          <a:ln w="12700">
            <a:solidFill>
              <a:srgbClr val="D8E8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1755648"/>
            <a:ext cx="466344" cy="4663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45059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288036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Créer, modifier,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afficher, supprimer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11480" y="4617720"/>
            <a:ext cx="1508760" cy="91440"/>
          </a:xfrm>
          <a:prstGeom prst="rect">
            <a:avLst/>
          </a:prstGeom>
          <a:solidFill>
            <a:srgbClr val="2E6FD9"/>
          </a:solidFill>
          <a:ln w="12700">
            <a:solidFill>
              <a:srgbClr val="2E6F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2093976" y="1417320"/>
            <a:ext cx="1508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2505456" y="1645920"/>
            <a:ext cx="685800" cy="685800"/>
          </a:xfrm>
          <a:prstGeom prst="line">
            <a:avLst/>
          </a:prstGeom>
          <a:solidFill>
            <a:srgbClr val="D8E8FF"/>
          </a:solidFill>
          <a:ln w="12700">
            <a:solidFill>
              <a:srgbClr val="D8E8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5184" y="1755648"/>
            <a:ext cx="466344" cy="4663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139696" y="245059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139696" y="288036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complète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ressources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2093976" y="4617720"/>
            <a:ext cx="1508760" cy="91440"/>
          </a:xfrm>
          <a:prstGeom prst="rect">
            <a:avLst/>
          </a:prstGeom>
          <a:solidFill>
            <a:srgbClr val="2E6FD9"/>
          </a:solidFill>
          <a:ln w="12700">
            <a:solidFill>
              <a:srgbClr val="2E6F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3"/>
          <p:cNvSpPr/>
          <p:nvPr/>
        </p:nvSpPr>
        <p:spPr>
          <a:xfrm>
            <a:off x="3776472" y="1417320"/>
            <a:ext cx="1508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4"/>
          <p:cNvSpPr/>
          <p:nvPr/>
        </p:nvSpPr>
        <p:spPr>
          <a:xfrm>
            <a:off x="4187952" y="1645920"/>
            <a:ext cx="685800" cy="685800"/>
          </a:xfrm>
          <a:prstGeom prst="line">
            <a:avLst/>
          </a:prstGeom>
          <a:solidFill>
            <a:srgbClr val="D8E8FF"/>
          </a:solidFill>
          <a:ln w="12700">
            <a:solidFill>
              <a:srgbClr val="D8E8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1755648"/>
            <a:ext cx="466344" cy="46634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822192" y="245059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Réservations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3822192" y="288036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complet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dates/heures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3776472" y="4617720"/>
            <a:ext cx="1508760" cy="91440"/>
          </a:xfrm>
          <a:prstGeom prst="rect">
            <a:avLst/>
          </a:prstGeom>
          <a:solidFill>
            <a:srgbClr val="2E6FD9"/>
          </a:solidFill>
          <a:ln w="12700">
            <a:solidFill>
              <a:srgbClr val="2E6F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18"/>
          <p:cNvSpPr/>
          <p:nvPr/>
        </p:nvSpPr>
        <p:spPr>
          <a:xfrm>
            <a:off x="5458968" y="1417320"/>
            <a:ext cx="1508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19"/>
          <p:cNvSpPr/>
          <p:nvPr/>
        </p:nvSpPr>
        <p:spPr>
          <a:xfrm>
            <a:off x="5870448" y="1645920"/>
            <a:ext cx="685800" cy="685800"/>
          </a:xfrm>
          <a:prstGeom prst="line">
            <a:avLst/>
          </a:prstGeom>
          <a:solidFill>
            <a:srgbClr val="D8E8FF"/>
          </a:solidFill>
          <a:ln w="12700">
            <a:solidFill>
              <a:srgbClr val="D8E8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0176" y="1755648"/>
            <a:ext cx="466344" cy="46634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504688" y="245059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CSV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5504688" y="288036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Chargement depuis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fichier CSV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5458968" y="4617720"/>
            <a:ext cx="1508760" cy="91440"/>
          </a:xfrm>
          <a:prstGeom prst="rect">
            <a:avLst/>
          </a:prstGeom>
          <a:solidFill>
            <a:srgbClr val="2E6FD9"/>
          </a:solidFill>
          <a:ln w="12700">
            <a:solidFill>
              <a:srgbClr val="2E6F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3"/>
          <p:cNvSpPr/>
          <p:nvPr/>
        </p:nvSpPr>
        <p:spPr>
          <a:xfrm>
            <a:off x="7141464" y="1417320"/>
            <a:ext cx="1508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4"/>
          <p:cNvSpPr/>
          <p:nvPr/>
        </p:nvSpPr>
        <p:spPr>
          <a:xfrm>
            <a:off x="7552944" y="1645920"/>
            <a:ext cx="685800" cy="685800"/>
          </a:xfrm>
          <a:prstGeom prst="line">
            <a:avLst/>
          </a:prstGeom>
          <a:solidFill>
            <a:srgbClr val="D8E8FF"/>
          </a:solidFill>
          <a:ln w="12700">
            <a:solidFill>
              <a:srgbClr val="D8E8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62672" y="1755648"/>
            <a:ext cx="466344" cy="46634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187184" y="245059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CSV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7187184" y="288036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des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réservations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7141464" y="4617720"/>
            <a:ext cx="1508760" cy="91440"/>
          </a:xfrm>
          <a:prstGeom prst="rect">
            <a:avLst/>
          </a:prstGeom>
          <a:solidFill>
            <a:srgbClr val="2E6FD9"/>
          </a:solidFill>
          <a:ln w="12700">
            <a:solidFill>
              <a:srgbClr val="2E6F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B9BF0"/>
          </a:solidFill>
          <a:ln w="12700">
            <a:solidFill>
              <a:srgbClr val="5B9B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9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des packages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2651760" cy="457200"/>
          </a:xfrm>
          <a:prstGeom prst="rect">
            <a:avLst/>
          </a:prstGeom>
          <a:solidFill>
            <a:srgbClr val="3B6FD4"/>
          </a:solidFill>
          <a:ln w="12700">
            <a:solidFill>
              <a:srgbClr val="3B6F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PaneUser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920240"/>
            <a:ext cx="2651760" cy="438912"/>
          </a:xfrm>
          <a:prstGeom prst="rect">
            <a:avLst/>
          </a:prstGeom>
          <a:solidFill>
            <a:srgbClr val="1E3254"/>
          </a:solidFill>
          <a:ln w="12700">
            <a:solidFill>
              <a:srgbClr val="2A407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29768" y="196596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CreationUser.java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2423160"/>
            <a:ext cx="2651760" cy="438912"/>
          </a:xfrm>
          <a:prstGeom prst="rect">
            <a:avLst/>
          </a:prstGeom>
          <a:solidFill>
            <a:srgbClr val="1E3254"/>
          </a:solidFill>
          <a:ln w="12700">
            <a:solidFill>
              <a:srgbClr val="2A407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29768" y="246888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ModifieUser.java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926080"/>
            <a:ext cx="2651760" cy="438912"/>
          </a:xfrm>
          <a:prstGeom prst="rect">
            <a:avLst/>
          </a:prstGeom>
          <a:solidFill>
            <a:srgbClr val="1E3254"/>
          </a:solidFill>
          <a:ln w="12700">
            <a:solidFill>
              <a:srgbClr val="2A407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29768" y="297180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DeleteUser.java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3429000"/>
            <a:ext cx="2651760" cy="438912"/>
          </a:xfrm>
          <a:prstGeom prst="rect">
            <a:avLst/>
          </a:prstGeom>
          <a:solidFill>
            <a:srgbClr val="1E3254"/>
          </a:solidFill>
          <a:ln w="12700">
            <a:solidFill>
              <a:srgbClr val="2A407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29768" y="34747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PrintUser.java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172968" y="1417320"/>
            <a:ext cx="2651760" cy="457200"/>
          </a:xfrm>
          <a:prstGeom prst="rect">
            <a:avLst/>
          </a:prstGeom>
          <a:solidFill>
            <a:srgbClr val="0E9172"/>
          </a:solidFill>
          <a:ln w="12700">
            <a:solidFill>
              <a:srgbClr val="0E917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172968" y="1417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PaneRessources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172968" y="1920240"/>
            <a:ext cx="2651760" cy="438912"/>
          </a:xfrm>
          <a:prstGeom prst="rect">
            <a:avLst/>
          </a:prstGeom>
          <a:solidFill>
            <a:srgbClr val="1E3254"/>
          </a:solidFill>
          <a:ln w="12700">
            <a:solidFill>
              <a:srgbClr val="2A407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282696" y="196596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CreationRessources.java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172968" y="2423160"/>
            <a:ext cx="2651760" cy="438912"/>
          </a:xfrm>
          <a:prstGeom prst="rect">
            <a:avLst/>
          </a:prstGeom>
          <a:solidFill>
            <a:srgbClr val="1E3254"/>
          </a:solidFill>
          <a:ln w="12700">
            <a:solidFill>
              <a:srgbClr val="2A407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3282696" y="246888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ModifieRessources.java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72968" y="2926080"/>
            <a:ext cx="2651760" cy="438912"/>
          </a:xfrm>
          <a:prstGeom prst="rect">
            <a:avLst/>
          </a:prstGeom>
          <a:solidFill>
            <a:srgbClr val="1E3254"/>
          </a:solidFill>
          <a:ln w="12700">
            <a:solidFill>
              <a:srgbClr val="2A407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3282696" y="297180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DeleteRessources.java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172968" y="3429000"/>
            <a:ext cx="2651760" cy="438912"/>
          </a:xfrm>
          <a:prstGeom prst="rect">
            <a:avLst/>
          </a:prstGeom>
          <a:solidFill>
            <a:srgbClr val="1E3254"/>
          </a:solidFill>
          <a:ln w="12700">
            <a:solidFill>
              <a:srgbClr val="2A407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3282696" y="34747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PrintRessources.java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25896" y="1417320"/>
            <a:ext cx="2651760" cy="457200"/>
          </a:xfrm>
          <a:prstGeom prst="rect">
            <a:avLst/>
          </a:prstGeom>
          <a:solidFill>
            <a:srgbClr val="C4600E"/>
          </a:solidFill>
          <a:ln w="12700">
            <a:solidFill>
              <a:srgbClr val="C4600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6025896" y="1417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PaneReservations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025896" y="1920240"/>
            <a:ext cx="2651760" cy="438912"/>
          </a:xfrm>
          <a:prstGeom prst="rect">
            <a:avLst/>
          </a:prstGeom>
          <a:solidFill>
            <a:srgbClr val="1E3254"/>
          </a:solidFill>
          <a:ln w="12700">
            <a:solidFill>
              <a:srgbClr val="2A407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6135624" y="196596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CreationReservations.java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25896" y="2423160"/>
            <a:ext cx="2651760" cy="438912"/>
          </a:xfrm>
          <a:prstGeom prst="rect">
            <a:avLst/>
          </a:prstGeom>
          <a:solidFill>
            <a:srgbClr val="1E3254"/>
          </a:solidFill>
          <a:ln w="12700">
            <a:solidFill>
              <a:srgbClr val="2A407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6135624" y="246888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ModifieReservations.java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025896" y="2926080"/>
            <a:ext cx="2651760" cy="438912"/>
          </a:xfrm>
          <a:prstGeom prst="rect">
            <a:avLst/>
          </a:prstGeom>
          <a:solidFill>
            <a:srgbClr val="1E3254"/>
          </a:solidFill>
          <a:ln w="12700">
            <a:solidFill>
              <a:srgbClr val="2A407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6135624" y="297180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DeleteReservations.java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025896" y="3429000"/>
            <a:ext cx="2651760" cy="438912"/>
          </a:xfrm>
          <a:prstGeom prst="rect">
            <a:avLst/>
          </a:prstGeom>
          <a:solidFill>
            <a:srgbClr val="1E3254"/>
          </a:solidFill>
          <a:ln w="12700">
            <a:solidFill>
              <a:srgbClr val="2A407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6135624" y="34747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PrintReservations.java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20040" y="4069080"/>
            <a:ext cx="8503920" cy="457200"/>
          </a:xfrm>
          <a:prstGeom prst="rect">
            <a:avLst/>
          </a:prstGeom>
          <a:solidFill>
            <a:srgbClr val="1E3254"/>
          </a:solidFill>
          <a:ln w="12700">
            <a:solidFill>
              <a:srgbClr val="2A407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320040" y="406908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CSV.java   ·   MainWindow.java   ·   Utilisateur.java   ·   Ressources.java   ·   Reservations.java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20040" y="459028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Classes communes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E6FD9"/>
          </a:solidFill>
          <a:ln w="12700">
            <a:solidFill>
              <a:srgbClr val="2E6F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ORIENTÉE OBJET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de classes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280160"/>
            <a:ext cx="8412480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" y="4773168"/>
            <a:ext cx="8778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</a:rPr>
              <a:t>Source : DiagrammeClasse.loo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B9BF0"/>
          </a:solidFill>
          <a:ln w="12700">
            <a:solidFill>
              <a:srgbClr val="5B9B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9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— INTERFACE GRAPHIQUE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 + MigLayout + JCalendar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572000" cy="758952"/>
          </a:xfrm>
          <a:prstGeom prst="rect">
            <a:avLst/>
          </a:prstGeom>
          <a:solidFill>
            <a:srgbClr val="1E3254"/>
          </a:solidFill>
          <a:ln w="12700">
            <a:solidFill>
              <a:srgbClr val="2A407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64008" cy="758952"/>
          </a:xfrm>
          <a:prstGeom prst="rect">
            <a:avLst/>
          </a:prstGeom>
          <a:solidFill>
            <a:srgbClr val="5B9BF0"/>
          </a:solidFill>
          <a:ln w="12700">
            <a:solidFill>
              <a:srgbClr val="5B9B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48640" y="147218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9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 + JMenuBar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7647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via JMenuBar (3 menus : User, Ressources, Reservation). Chaque item déclenche un setContentPane() pour charger le bon panel.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267712"/>
            <a:ext cx="4572000" cy="758952"/>
          </a:xfrm>
          <a:prstGeom prst="rect">
            <a:avLst/>
          </a:prstGeom>
          <a:solidFill>
            <a:srgbClr val="1E3254"/>
          </a:solidFill>
          <a:ln w="12700">
            <a:solidFill>
              <a:srgbClr val="2A407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65760" y="2267712"/>
            <a:ext cx="64008" cy="758952"/>
          </a:xfrm>
          <a:prstGeom prst="rect">
            <a:avLst/>
          </a:prstGeom>
          <a:solidFill>
            <a:srgbClr val="5B9BF0"/>
          </a:solidFill>
          <a:ln w="12700">
            <a:solidFill>
              <a:srgbClr val="5B9B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48640" y="232257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9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ActionListener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61518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MainWindow implémente ActionListener. actionPerformed() détecte la source et instancie le panel correspondant + frame.revalidate().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118104"/>
            <a:ext cx="4572000" cy="758952"/>
          </a:xfrm>
          <a:prstGeom prst="rect">
            <a:avLst/>
          </a:prstGeom>
          <a:solidFill>
            <a:srgbClr val="1E3254"/>
          </a:solidFill>
          <a:ln w="12700">
            <a:solidFill>
              <a:srgbClr val="2A407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365760" y="3118104"/>
            <a:ext cx="64008" cy="758952"/>
          </a:xfrm>
          <a:prstGeom prst="rect">
            <a:avLst/>
          </a:prstGeom>
          <a:solidFill>
            <a:srgbClr val="5B9BF0"/>
          </a:solidFill>
          <a:ln w="12700">
            <a:solidFill>
              <a:srgbClr val="5B9B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48640" y="31729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9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MigLayout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46557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Gestionnaire de layout avancé. Syntaxe déclarative : "[grow]", "cell 0 1,growx". Utilisé dans tous les panels.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968496"/>
            <a:ext cx="4572000" cy="758952"/>
          </a:xfrm>
          <a:prstGeom prst="rect">
            <a:avLst/>
          </a:prstGeom>
          <a:solidFill>
            <a:srgbClr val="1E3254"/>
          </a:solidFill>
          <a:ln w="12700">
            <a:solidFill>
              <a:srgbClr val="2A407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365760" y="3968496"/>
            <a:ext cx="64008" cy="758952"/>
          </a:xfrm>
          <a:prstGeom prst="rect">
            <a:avLst/>
          </a:prstGeom>
          <a:solidFill>
            <a:srgbClr val="5B9BF0"/>
          </a:solidFill>
          <a:ln w="12700">
            <a:solidFill>
              <a:srgbClr val="5B9B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548640" y="40233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9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JCalendar / JGoodies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3159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JDateChooser pour les dates (format dd/MM/yyyy). JGoodies pour les layouts de formulaires.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257800" y="1417320"/>
            <a:ext cx="3566160" cy="3429000"/>
          </a:xfrm>
          <a:prstGeom prst="rect">
            <a:avLst/>
          </a:prstGeom>
          <a:solidFill>
            <a:srgbClr val="0D1B2E"/>
          </a:solidFill>
          <a:ln w="12700">
            <a:solidFill>
              <a:srgbClr val="2A407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394960" y="1508760"/>
            <a:ext cx="3291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Navigation MainWindow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actionPerformed(ActionEvent e){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Object src = e.getSource();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(src == userCreate)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frame.setContentPane(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new CreationUser());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frame.revalidate();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frame.repaint();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MigLayout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setLayout(new MigLayout(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"", "[grow]",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"[grow][50]"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E6FD9"/>
          </a:solidFill>
          <a:ln w="12700">
            <a:solidFill>
              <a:srgbClr val="2E6F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— PERSISTANCE DES DONNÉES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/ Export CSV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1463040" cy="1188720"/>
          </a:xfrm>
          <a:prstGeom prst="rect">
            <a:avLst/>
          </a:prstGeom>
          <a:solidFill>
            <a:srgbClr val="3B6FD4"/>
          </a:solidFill>
          <a:ln w="12700">
            <a:solidFill>
              <a:srgbClr val="3B6FD4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20040" y="153619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CSV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extraction-2021-2022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-anonym.csv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737360" y="1993392"/>
            <a:ext cx="219456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1837944" y="187452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</a:rPr>
              <a:t>▶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956816" y="1463040"/>
            <a:ext cx="1463040" cy="1188720"/>
          </a:xfrm>
          <a:prstGeom prst="rect">
            <a:avLst/>
          </a:prstGeom>
          <a:solidFill>
            <a:srgbClr val="0E9172"/>
          </a:solidFill>
          <a:ln w="12700">
            <a:solidFill>
              <a:srgbClr val="0E917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002536" y="153619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CSV.java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002536" y="192024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split(";") ligne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ligne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419856" y="1993392"/>
            <a:ext cx="219456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520440" y="187452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</a:rPr>
              <a:t>▶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39312" y="1463040"/>
            <a:ext cx="1463040" cy="1188720"/>
          </a:xfrm>
          <a:prstGeom prst="rect">
            <a:avLst/>
          </a:prstGeom>
          <a:solidFill>
            <a:srgbClr val="C4600E"/>
          </a:solidFill>
          <a:ln w="12700">
            <a:solidFill>
              <a:srgbClr val="C4600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685032" y="153619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Entités Java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685032" y="192024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/ Reservations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102352" y="1993392"/>
            <a:ext cx="219456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5202936" y="187452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</a:rPr>
              <a:t>▶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321808" y="1463040"/>
            <a:ext cx="1463040" cy="1188720"/>
          </a:xfrm>
          <a:prstGeom prst="rect">
            <a:avLst/>
          </a:prstGeom>
          <a:solidFill>
            <a:srgbClr val="2E6FD9"/>
          </a:solidFill>
          <a:ln w="12700">
            <a:solidFill>
              <a:srgbClr val="2E6FD9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367528" y="153619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Swing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367528" y="192024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Affichage &amp;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784848" y="1993392"/>
            <a:ext cx="219456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6885432" y="187452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</a:rPr>
              <a:t>▶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004304" y="1463040"/>
            <a:ext cx="1463040" cy="118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7050024" y="153619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CSV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050024" y="192024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 fichier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à jour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65760" y="28346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du fichier CSV :</a:t>
            </a:r>
            <a:endParaRPr lang="en-US" sz="12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154680"/>
          <a:ext cx="8412480" cy="9144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Colonne CSV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Exemple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0203A"/>
                          </a:solidFill>
                        </a:rPr>
                        <a:t>Réservation au nom de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0203A"/>
                          </a:solidFill>
                        </a:rPr>
                        <a:t>mono1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0203A"/>
                          </a:solidFill>
                        </a:rPr>
                        <a:t>Identifiant de l'utilisateur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0203A"/>
                          </a:solidFill>
                        </a:rPr>
                        <a:t>Domaines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0203A"/>
                          </a:solidFill>
                        </a:rPr>
                        <a:t>PC Courte Duree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0203A"/>
                          </a:solidFill>
                        </a:rPr>
                        <a:t>Catégorie de la ressource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0203A"/>
                          </a:solidFill>
                        </a:rPr>
                        <a:t>Ressource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0203A"/>
                          </a:solidFill>
                        </a:rPr>
                        <a:t>PC B CD 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0203A"/>
                          </a:solidFill>
                        </a:rPr>
                        <a:t>Nom de la ressource réservée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0203A"/>
                          </a:solidFill>
                        </a:rPr>
                        <a:t>Description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0203A"/>
                          </a:solidFill>
                        </a:rPr>
                        <a:t>DELL Latitude E5580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0203A"/>
                          </a:solidFill>
                        </a:rPr>
                        <a:t>Description matérielle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0203A"/>
                          </a:solidFill>
                        </a:rPr>
                        <a:t>Heure - Durée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0203A"/>
                          </a:solidFill>
                        </a:rPr>
                        <a:t>mercredi 01 sept. 2021 08:30:00 - 9 heure(s)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0203A"/>
                          </a:solidFill>
                        </a:rPr>
                        <a:t>Date de début + durée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0203A"/>
                          </a:solidFill>
                        </a:rPr>
                        <a:t>Type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0203A"/>
                          </a:solidFill>
                        </a:rPr>
                        <a:t>Emprunt / Maintenance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0203A"/>
                          </a:solidFill>
                        </a:rPr>
                        <a:t>Nature de la réservation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0203A"/>
                          </a:solidFill>
                        </a:rPr>
                        <a:t>Dernière mise à jour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0203A"/>
                          </a:solidFill>
                        </a:rPr>
                        <a:t>mardi 29 juin 2021 15:33:18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0203A"/>
                          </a:solidFill>
                        </a:rPr>
                        <a:t>Date de dernière modification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8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B9BF0"/>
          </a:solidFill>
          <a:ln w="12700">
            <a:solidFill>
              <a:srgbClr val="5B9B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9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— PATTERNS &amp; BONNES PRATIQUES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du code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4069080" cy="1600200"/>
          </a:xfrm>
          <a:prstGeom prst="rect">
            <a:avLst/>
          </a:prstGeom>
          <a:solidFill>
            <a:srgbClr val="1E3254"/>
          </a:solidFill>
          <a:ln w="12700">
            <a:solidFill>
              <a:srgbClr val="2A407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64008" cy="1600200"/>
          </a:xfrm>
          <a:prstGeom prst="rect">
            <a:avLst/>
          </a:prstGeom>
          <a:solidFill>
            <a:srgbClr val="3B6FD4"/>
          </a:solidFill>
          <a:ln w="12700">
            <a:solidFill>
              <a:srgbClr val="3B6F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84632" y="155448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9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par setContentPane()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" y="1938528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MainWindow implémente ActionListener. Chaque clic menu instancie le panel correspondant et le charge via frame.setContentPane() + revalidate().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463040"/>
            <a:ext cx="4069080" cy="1600200"/>
          </a:xfrm>
          <a:prstGeom prst="rect">
            <a:avLst/>
          </a:prstGeom>
          <a:solidFill>
            <a:srgbClr val="1E3254"/>
          </a:solidFill>
          <a:ln w="12700">
            <a:solidFill>
              <a:srgbClr val="2A407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64008" cy="1600200"/>
          </a:xfrm>
          <a:prstGeom prst="rect">
            <a:avLst/>
          </a:prstGeom>
          <a:solidFill>
            <a:srgbClr val="0E9172"/>
          </a:solidFill>
          <a:ln w="12700">
            <a:solidFill>
              <a:srgbClr val="0E917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828032" y="155448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9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Listes statiques partagées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28032" y="1938528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entité (Utilisateur, Ressources, Reservations) possède une ArrayList static — liste_utilisateur, liste_ressource, liste_reservations — partagée entre toutes les instances.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3246120"/>
            <a:ext cx="4069080" cy="1600200"/>
          </a:xfrm>
          <a:prstGeom prst="rect">
            <a:avLst/>
          </a:prstGeom>
          <a:solidFill>
            <a:srgbClr val="1E3254"/>
          </a:solidFill>
          <a:ln w="12700">
            <a:solidFill>
              <a:srgbClr val="2A407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320040" y="3246120"/>
            <a:ext cx="64008" cy="1600200"/>
          </a:xfrm>
          <a:prstGeom prst="rect">
            <a:avLst/>
          </a:prstGeom>
          <a:solidFill>
            <a:srgbClr val="C4600E"/>
          </a:solidFill>
          <a:ln w="12700">
            <a:solidFill>
              <a:srgbClr val="C4600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84632" y="333756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9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CSV.java — lecture/écriture fichier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" y="3721608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chargement() : BufferedReader + split(";") ligne par ligne. export() : FileWriter. Note : export() utilise des données hardcodées (non connecté aux entités).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3246120"/>
            <a:ext cx="4069080" cy="1600200"/>
          </a:xfrm>
          <a:prstGeom prst="rect">
            <a:avLst/>
          </a:prstGeom>
          <a:solidFill>
            <a:srgbClr val="1E3254"/>
          </a:solidFill>
          <a:ln w="12700">
            <a:solidFill>
              <a:srgbClr val="2A407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4663440" y="3246120"/>
            <a:ext cx="64008" cy="1600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828032" y="333756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9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Méthodes non implémentées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28032" y="3721608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print_reserv() dans Reservations.java a un corps vide. Piste d'amélioration identifiée : connecter CSV.java aux ArrayLists des entités métier.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E6FD9"/>
          </a:solidFill>
          <a:ln w="12700">
            <a:solidFill>
              <a:srgbClr val="2E6F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utilisées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F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2606040" cy="411480"/>
          </a:xfrm>
          <a:prstGeom prst="rect">
            <a:avLst/>
          </a:prstGeom>
          <a:solidFill>
            <a:srgbClr val="E76F00"/>
          </a:solidFill>
          <a:ln w="12700">
            <a:solidFill>
              <a:srgbClr val="E76F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93192" y="14630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11+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93192" y="19110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Langage principal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93192" y="22402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POO, typage fort, JVM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54680" y="141732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F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154680" y="1417320"/>
            <a:ext cx="2606040" cy="411480"/>
          </a:xfrm>
          <a:prstGeom prst="rect">
            <a:avLst/>
          </a:prstGeom>
          <a:solidFill>
            <a:srgbClr val="3B6FD4"/>
          </a:solidFill>
          <a:ln w="12700">
            <a:solidFill>
              <a:srgbClr val="3B6FD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227832" y="14630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27832" y="19110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graphique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27832" y="22402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JPanel, JTable, JComboBox, JButton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89320" y="141732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F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5989320" y="1417320"/>
            <a:ext cx="2606040" cy="411480"/>
          </a:xfrm>
          <a:prstGeom prst="rect">
            <a:avLst/>
          </a:prstGeom>
          <a:solidFill>
            <a:srgbClr val="0E9172"/>
          </a:solidFill>
          <a:ln w="12700">
            <a:solidFill>
              <a:srgbClr val="0E917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062472" y="14630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MigLayout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62472" y="19110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Gestionnaire de layout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62472" y="22402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Syntaxe déclarative, cell-based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20040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F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320040" y="3200400"/>
            <a:ext cx="260604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393192" y="3246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JCalendar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93192" y="36941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Sélecteur de dates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93192" y="40233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JDateChooser, format dd/MM/yyyy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154680" y="320040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F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3154680" y="3200400"/>
            <a:ext cx="260604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3227832" y="3246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JGoodies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227832" y="36941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 formulaires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27832" y="40233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FormLayout, ColumnSpec, RowSpec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89320" y="320040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F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5989320" y="3200400"/>
            <a:ext cx="2606040" cy="41148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6062472" y="3246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62472" y="36941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Persistance des données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062472" y="40233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BufferedReader + FileWriter, split(";") 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5029200" y="0"/>
            <a:ext cx="137160" cy="5143500"/>
          </a:xfrm>
          <a:prstGeom prst="rect">
            <a:avLst/>
          </a:prstGeom>
          <a:solidFill>
            <a:srgbClr val="2E6FD9"/>
          </a:solidFill>
          <a:ln w="12700">
            <a:solidFill>
              <a:srgbClr val="2E6F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4389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attention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30632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9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questions 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44805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Matteo Delin — BUT SD S3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49240" y="8229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9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a réalisé</a:t>
            </a:r>
            <a:endParaRPr lang="en-US" sz="16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1389888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669280" y="136245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Java complète avec GUI Swing</a:t>
            </a:r>
            <a:endParaRPr lang="en-US" sz="1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1911096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69280" y="188366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entités métier (Utilisateur, Ressources, Réservations)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2432304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669280" y="24048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panels CRUD organisés par responsabilité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2953512"/>
            <a:ext cx="228600" cy="228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669280" y="29260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/ Export de données CSV</a:t>
            </a:r>
            <a:endParaRPr lang="en-US" sz="11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3474720"/>
            <a:ext cx="228600" cy="2286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669280" y="34472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OO documentée (diagramme UML)</a:t>
            </a:r>
            <a:endParaRPr lang="en-US" sz="11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3995928"/>
            <a:ext cx="228600" cy="2286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669280" y="396849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: MigLayout · JCalendar · JGoodies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E74AA6DB773DC409E24CC7B8060DB0D" ma:contentTypeVersion="5" ma:contentTypeDescription="Create a new document." ma:contentTypeScope="" ma:versionID="b60dcdf7d68eb61fb3ff7dafaede6293">
  <xsd:schema xmlns:xsd="http://www.w3.org/2001/XMLSchema" xmlns:xs="http://www.w3.org/2001/XMLSchema" xmlns:p="http://schemas.microsoft.com/office/2006/metadata/properties" xmlns:ns3="6b7c770f-6c90-425c-81c9-c82569a60f0e" targetNamespace="http://schemas.microsoft.com/office/2006/metadata/properties" ma:root="true" ma:fieldsID="4185367adbdd583a15e6bdea0c081a8d" ns3:_="">
    <xsd:import namespace="6b7c770f-6c90-425c-81c9-c82569a60f0e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7c770f-6c90-425c-81c9-c82569a60f0e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b7c770f-6c90-425c-81c9-c82569a60f0e" xsi:nil="true"/>
  </documentManagement>
</p:properties>
</file>

<file path=customXml/itemProps1.xml><?xml version="1.0" encoding="utf-8"?>
<ds:datastoreItem xmlns:ds="http://schemas.openxmlformats.org/officeDocument/2006/customXml" ds:itemID="{85D3031E-EAD6-428A-9554-F721596417C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b7c770f-6c90-425c-81c9-c82569a60f0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8D9749C-5243-424F-8372-E0DC2E88E02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66F975E-519C-403F-97D3-76D293656657}">
  <ds:schemaRefs>
    <ds:schemaRef ds:uri="http://purl.org/dc/dcmitype/"/>
    <ds:schemaRef ds:uri="http://schemas.microsoft.com/office/infopath/2007/PartnerControls"/>
    <ds:schemaRef ds:uri="http://schemas.microsoft.com/office/2006/metadata/properties"/>
    <ds:schemaRef ds:uri="http://schemas.microsoft.com/office/2006/documentManagement/types"/>
    <ds:schemaRef ds:uri="http://purl.org/dc/elements/1.1/"/>
    <ds:schemaRef ds:uri="6b7c770f-6c90-425c-81c9-c82569a60f0e"/>
    <ds:schemaRef ds:uri="http://www.w3.org/XML/1998/namespace"/>
    <ds:schemaRef ds:uri="http://schemas.openxmlformats.org/package/2006/metadata/core-properties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8ec47177-7042-437d-aa6f-31fd7962b727}" enabled="1" method="Standard" siteId="{b87cc266-09c4-40cc-8dfa-c92e08bf9cb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791</Words>
  <Application>Microsoft Office PowerPoint</Application>
  <PresentationFormat>Affichage à l'écran (16:9)</PresentationFormat>
  <Paragraphs>185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SAE COO SD2 — Gestion de Réservations</dc:title>
  <dc:subject>PptxGenJS Presentation</dc:subject>
  <dc:creator>PptxGenJS</dc:creator>
  <cp:lastModifiedBy>GROSJEAN Violette</cp:lastModifiedBy>
  <cp:revision>2</cp:revision>
  <dcterms:created xsi:type="dcterms:W3CDTF">2026-03-05T14:03:13Z</dcterms:created>
  <dcterms:modified xsi:type="dcterms:W3CDTF">2026-03-05T14:21:33Z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Theme:3</vt:lpwstr>
  </property>
  <property fmtid="{D5CDD505-2E9C-101B-9397-08002B2CF9AE}" pid="3" name="ClassificationContentMarkingFooterText">
    <vt:lpwstr>LIMITED SHARING</vt:lpwstr>
  </property>
  <property fmtid="{D5CDD505-2E9C-101B-9397-08002B2CF9AE}" pid="4" name="ContentTypeId">
    <vt:lpwstr>0x0101003E74AA6DB773DC409E24CC7B8060DB0D</vt:lpwstr>
  </property>
</Properties>
</file>